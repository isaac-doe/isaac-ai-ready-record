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ISAAC Project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Schema, Portal, and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Foundation: AI-Ready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5029200" cy="0"/>
          </a:xfrm>
        </p:spPr>
        <p:txBody>
          <a:bodyPr/>
          <a:lstStyle/>
          <a:p>
            <a:pPr>
              <a:defRPr sz="2000"/>
            </a:pPr>
            <a:r>
              <a:t>• Based on our GitHub Wiki: 'The Semantic Layer above Raw Data'.</a:t>
            </a:r>
          </a:p>
          <a:p>
            <a:pPr>
              <a:defRPr sz="2000"/>
            </a:pPr>
            <a:r>
              <a:t>• ISAAC Records capture meaning, not just bytes.</a:t>
            </a:r>
          </a:p>
          <a:p>
            <a:pPr>
              <a:defRPr sz="2000"/>
            </a:pPr>
            <a:r>
              <a:t>• Key Components defined in the Wiki:</a:t>
            </a:r>
          </a:p>
          <a:p>
            <a:pPr>
              <a:defRPr sz="2000"/>
            </a:pPr>
            <a:r>
              <a:t>   - Context: Physical system &amp; conditions.</a:t>
            </a:r>
          </a:p>
          <a:p>
            <a:pPr>
              <a:defRPr sz="2000"/>
            </a:pPr>
            <a:r>
              <a:t>   - Provenance: Origin of the information.</a:t>
            </a:r>
          </a:p>
          <a:p>
            <a:pPr>
              <a:defRPr sz="2000"/>
            </a:pPr>
            <a:r>
              <a:t>   - Interpretation: Reduced metrics (e.g., efficiency).</a:t>
            </a:r>
          </a:p>
          <a:p>
            <a:pPr>
              <a:defRPr sz="2000"/>
            </a:pPr>
            <a:r>
              <a:t>   - Pointers: Links to raw data files.</a:t>
            </a:r>
          </a:p>
        </p:txBody>
      </p:sp>
      <p:pic>
        <p:nvPicPr>
          <p:cNvPr id="4" name="Picture 3" descr="wiki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3200400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New Ontology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5029200" cy="0"/>
          </a:xfrm>
        </p:spPr>
        <p:txBody>
          <a:bodyPr/>
          <a:lstStyle/>
          <a:p>
            <a:pPr>
              <a:defRPr sz="2000"/>
            </a:pPr>
            <a:r>
              <a:t>• We now have a live, dynamic website for the Schema.</a:t>
            </a:r>
          </a:p>
          <a:p>
            <a:pPr>
              <a:defRPr sz="2000"/>
            </a:pPr>
            <a:r>
              <a:t>• Acts as the 'Single Source of Truth' for all terms.</a:t>
            </a:r>
          </a:p>
          <a:p>
            <a:pPr>
              <a:defRPr sz="2000"/>
            </a:pPr>
            <a:r>
              <a:t>• 'What you see is what you document.'</a:t>
            </a:r>
          </a:p>
          <a:p>
            <a:pPr>
              <a:defRPr sz="2000"/>
            </a:pPr>
            <a:r>
              <a:t>• Features a visual explorer (Concept Map) and navigation.</a:t>
            </a:r>
          </a:p>
          <a:p>
            <a:pPr>
              <a:defRPr sz="2000"/>
            </a:pPr>
            <a:r>
              <a:t>• URL: http://localhost:8501 (Internal access only for now)</a:t>
            </a:r>
          </a:p>
        </p:txBody>
      </p:sp>
      <p:pic>
        <p:nvPicPr>
          <p:cNvPr id="4" name="Picture 3" descr="ontolog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3200400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Schema Strategy: 'Big Blocks'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The Schema is structured into core 'Super-Blocks':</a:t>
            </a:r>
          </a:p>
          <a:p>
            <a:pPr>
              <a:defRPr sz="2000"/>
            </a:pPr>
            <a:r>
              <a:t>   - System, Sample, Context, Measurement, Descriptor</a:t>
            </a:r>
          </a:p>
          <a:p>
            <a:pPr>
              <a:defRPr sz="2000"/>
            </a:pPr>
            <a:r>
              <a:t>• Approach: Add specificity *within* these blocks.</a:t>
            </a:r>
          </a:p>
          <a:p>
            <a:pPr>
              <a:defRPr sz="2000"/>
            </a:pPr>
            <a:r>
              <a:t>• Example: Adding 'viscosity' to 'Context' -&gt; 'context.transport.viscosity'.</a:t>
            </a:r>
          </a:p>
          <a:p>
            <a:pPr>
              <a:defRPr sz="2000"/>
            </a:pPr>
            <a:r>
              <a:t>• Flexible: We can add properties without breaking the core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The Gatekeeper: Data Validator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5029200" cy="0"/>
          </a:xfrm>
        </p:spPr>
        <p:txBody>
          <a:bodyPr/>
          <a:lstStyle/>
          <a:p>
            <a:pPr>
              <a:defRPr sz="2000"/>
            </a:pPr>
            <a:r>
              <a:t>• New quality control step BEFORE database ingestion.</a:t>
            </a:r>
          </a:p>
          <a:p>
            <a:pPr>
              <a:defRPr sz="2000"/>
            </a:pPr>
            <a:r>
              <a:t>• Users upload their metadata (Excel) to the Portal.</a:t>
            </a:r>
          </a:p>
          <a:p>
            <a:pPr>
              <a:defRPr sz="2000"/>
            </a:pPr>
            <a:r>
              <a:t>• Immediate feedback on:</a:t>
            </a:r>
          </a:p>
          <a:p>
            <a:pPr>
              <a:defRPr sz="2000"/>
            </a:pPr>
            <a:r>
              <a:t>   - Required fields</a:t>
            </a:r>
          </a:p>
          <a:p>
            <a:pPr>
              <a:defRPr sz="2000"/>
            </a:pPr>
            <a:r>
              <a:t>   - Correct terminology (from Ontology)</a:t>
            </a:r>
          </a:p>
          <a:p>
            <a:pPr>
              <a:defRPr sz="2000"/>
            </a:pPr>
            <a:r>
              <a:t>   - Valid value ranges</a:t>
            </a:r>
          </a:p>
          <a:p>
            <a:pPr>
              <a:defRPr sz="2000"/>
            </a:pPr>
            <a:r>
              <a:t>• Ensures only 'AI-Ready' records enter the system.</a:t>
            </a:r>
          </a:p>
        </p:txBody>
      </p:sp>
      <p:pic>
        <p:nvPicPr>
          <p:cNvPr id="4" name="Picture 3" descr="validator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3200400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Future: Authentication &amp;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Developing 'KID' (Kernel Identity) for robust identification.</a:t>
            </a:r>
          </a:p>
          <a:p>
            <a:pPr>
              <a:defRPr sz="2000"/>
            </a:pPr>
            <a:r>
              <a:t>• Website Authentication:</a:t>
            </a:r>
          </a:p>
          <a:p>
            <a:pPr>
              <a:defRPr sz="2000"/>
            </a:pPr>
            <a:r>
              <a:t>   - Moving from open access to role-based access.</a:t>
            </a:r>
          </a:p>
          <a:p>
            <a:pPr>
              <a:defRPr sz="2000"/>
            </a:pPr>
            <a:r>
              <a:t>   - Controlling who can EDIT vs. VIEW the ontology.</a:t>
            </a:r>
          </a:p>
          <a:p>
            <a:pPr>
              <a:defRPr sz="2000"/>
            </a:pPr>
            <a:r>
              <a:t>   - Secure API tokens for automated Agents.</a:t>
            </a:r>
          </a:p>
          <a:p>
            <a:pPr>
              <a:defRPr sz="2000"/>
            </a:pPr>
            <a:r>
              <a:t>• Goal: A secure, trusted environment for scientific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